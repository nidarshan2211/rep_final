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286000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AQUAFLOW</a:t>
            </a:r>
          </a:p>
          <a:p>
            <a:pPr>
              <a:spcBef>
                <a:spcPts val="800"/>
              </a:spcBef>
              <a:defRPr sz="2000">
                <a:solidFill>
                  <a:srgbClr val="0EA5E9"/>
                </a:solidFill>
              </a:defRPr>
            </a:pPr>
            <a:r>
              <a:t>Enterprise Smart Water Billing &amp; Intelligent Leak Management Platform</a:t>
            </a:r>
          </a:p>
          <a:p>
            <a:pPr>
              <a:spcBef>
                <a:spcPts val="1200"/>
              </a:spcBef>
              <a:defRPr sz="1300">
                <a:solidFill>
                  <a:srgbClr val="94A3B8"/>
                </a:solidFill>
              </a:defRPr>
            </a:pPr>
            <a:r>
              <a:t>Multi-Tenant Smart Metering · Dynamic 3-Tier Tariff · Quantile Regression AI · Resident Feedback Active Learning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40480"/>
            <a:ext cx="10698480" cy="100584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CORE TECHNOLOGY STACK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Spring Boot 3.2.5  ·  React 19 &amp; Vite 6  ·  Python 3.12 &amp; FastAPI  ·  LightGBM AI  ·  MySQL 8  · 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Roles: Super Admin  ·  Building Owner  ·  Resident</a:t>
            </a:r>
          </a:p>
          <a:p>
            <a:pPr>
              <a:spcBef>
                <a:spcPts val="400"/>
              </a:spcBef>
              <a:defRPr sz="1200">
                <a:solidFill>
                  <a:srgbClr val="0EA5E9"/>
                </a:solidFill>
              </a:defRPr>
            </a:pPr>
            <a:r>
              <a:t>Live Demo: http://localhost:5173   |   Swagger API: http://localhost:8080/api/swagger-ui.html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1 · 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What AquaFlow Delivers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A next-generation municipal &amp; residential water intelligence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1463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293B"/>
                </a:solidFill>
              </a:defRPr>
            </a:pPr>
            <a:r>
              <a:t>AquaFlow is an enterprise-grade IoT water management platform engineered for residential high-rises, gated communities, and commercial properties. It completely eliminates flat-rate unmetered billing inequities, dynamically adjusts water tariffs based on bulk procurement and tanker costs, and protects properties from devastating water losses using Quantile Regression ML and real-time resident feedback.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2542032" cy="2651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520440"/>
            <a:ext cx="217627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EA5E9"/>
                </a:solidFill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97680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USER ROLES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09160"/>
            <a:ext cx="2176272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Super Admin, Building Owner, and Resident with strict hierarchical RBAC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3383280"/>
            <a:ext cx="2542032" cy="2651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3520440"/>
            <a:ext cx="217627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0B981"/>
                </a:solidFill>
              </a:defRPr>
            </a:pPr>
            <a:r>
              <a:t>26+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4297680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REST ENDPOINTS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4709160"/>
            <a:ext cx="2176272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Stateless, JWT-secured endpoints across 5 dedicated domain controllers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383280"/>
            <a:ext cx="2542032" cy="2651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4224" y="3520440"/>
            <a:ext cx="217627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59E0B"/>
                </a:solidFill>
              </a:defRPr>
            </a:pPr>
            <a:r>
              <a:t>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4224" y="4297680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JPA ENTITIES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4709160"/>
            <a:ext cx="2176272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Normalized relational database tables hosted on high-performance MySQL 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06256" y="3383280"/>
            <a:ext cx="2542032" cy="2651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3520440"/>
            <a:ext cx="217627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43F5E"/>
                </a:solidFill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9136" y="4297680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ML REGRESSORS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9136" y="4709160"/>
            <a:ext cx="2176272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LightGBM Quantile models (q10, q50, q95) with in-JVM statistical failover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2 · 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Core Capabilities &amp; Advanced AI Innovations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Engineered for operational precision, financial transparency, and water conservation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47288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" y="1920240"/>
            <a:ext cx="9144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28986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E293B"/>
                </a:solidFill>
              </a:defRPr>
            </a:pPr>
            <a:r>
              <a:t>CORE CAPABILITIES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60320"/>
            <a:ext cx="2898648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 Building &amp; Flat Hierarchy Management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 Digital Water Meter Telemetry Pairing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 Bulk Water Procurement &amp; Tanker Logging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 1-Click Automated Monthly Bulk Billing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 Instant iText PDF Invoice Generation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 Resident Simulated Online Payment Gateway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 Tenant Occupancy Requests &amp; Token Invitations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1645920"/>
            <a:ext cx="3447288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36008" y="1920240"/>
            <a:ext cx="9144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2057400"/>
            <a:ext cx="28986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E293B"/>
                </a:solidFill>
              </a:defRPr>
            </a:pPr>
            <a:r>
              <a:t>ADVANCED AI &amp; GOVERNANCE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2560320"/>
            <a:ext cx="2898648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 Quantile Regression ML (q10, q50, q95 Bounds)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 Dynamic 3-Tier Progressive Tariff Engine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 Household Size Demographic Normalization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 Vacation Away-Period Anomaly Suppression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 Human-Readable Leak Reason Codes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 Super Admin Owner Verification Gatekeeper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 Resident Feedback Active-Learning Loop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645920"/>
            <a:ext cx="3447288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66176" y="1920240"/>
            <a:ext cx="9144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6176" y="2057400"/>
            <a:ext cx="28986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E293B"/>
                </a:solidFill>
              </a:defRPr>
            </a:pPr>
            <a:r>
              <a:t>TARGET USE CASES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6" y="2560320"/>
            <a:ext cx="2898648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 Multi-Tenant Residential High-Rises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 Gated Communities &amp; Villa Townships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 Commercial Tech Parks &amp; Office Complexes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 Private Water Supply &amp; Tanker Operators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 Smart City Municipal Water Distribution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 Mixed-Use Real Estate Developments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 Property Facility Management Firms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3 · PROBLEM &amp;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Overcoming Legacy Water Management Inequities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How AquaFlow replaces outdated manual methods with intelligent automation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114800"/>
                <a:gridCol w="4327855"/>
              </a:tblGrid>
              <a:tr h="731520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DOMAIN CHALLENGE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LEGACY INDUSTRY PROBLEM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AQUAFLOW INTELLIGENT SOLUTION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EA5E9"/>
                          </a:solidFill>
                        </a:defRPr>
                      </a:pPr>
                      <a:r>
                        <a:t>Billing Inequity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Flat-rate fee divided equally across all flats penalizes conservative users and ignores wastage.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Digital meter per flat; automated billing based strictly on actual delta consumption volume (kL).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EA5E9"/>
                          </a:solidFill>
                        </a:defRPr>
                      </a:pPr>
                      <a:r>
                        <a:t>Volatile Tanker Costs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Building owners absorb heavy summer tanker costs or impose arbitrary lump-sum surcharges.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Dynamic procurement-based tariff: Average cost + owner markup % with 3 progressive tiers.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EA5E9"/>
                          </a:solidFill>
                        </a:defRPr>
                      </a:pPr>
                      <a:r>
                        <a:t>Undetected Leaks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Silent toilet leaks and concealed pipe bursts go unnoticed until astronomical water bills arrive.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24/7 telemetry scoring via Quantile Regression with continuous night-flow anomaly attribution.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EA5E9"/>
                          </a:solidFill>
                        </a:defRPr>
                      </a:pPr>
                      <a:r>
                        <a:t>False Alarm Fatigue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Simple threshold alerts trigger panic when residents host guests or wash terraces.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Demographic scaling by flat type, vacation away-period scheduling, and resident feedback loop.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EA5E9"/>
                          </a:solidFill>
                        </a:defRPr>
                      </a:pPr>
                      <a:r>
                        <a:t>Governance &amp; Privacy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Unverified building owners list non-existent buildings and collect payments illegally.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Strict Super Admin approval gatekeeper before building inventory and flats become public.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4 · 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Modern Polyglot Enterprise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Industry-proven tools chosen for type safety, computational speed, and developer velocity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2542032" cy="914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BACKEND ENTERPRISE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21762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050" b="1">
                <a:solidFill>
                  <a:srgbClr val="1E293B"/>
                </a:solidFill>
              </a:defRPr>
            </a:pPr>
            <a:r>
              <a:t>• Java 17 (LTS)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Modern type-safe object model &amp; pattern matching</a:t>
            </a:r>
          </a:p>
          <a:p>
            <a:pPr>
              <a:spcBef>
                <a:spcPts val="600"/>
              </a:spcBef>
              <a:defRPr sz="1050" b="1">
                <a:solidFill>
                  <a:srgbClr val="1E293B"/>
                </a:solidFill>
              </a:defRPr>
            </a:pPr>
            <a:r>
              <a:t>• Spring Boot 3.2.5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Dependency injection, auto-configuration &amp; REST API</a:t>
            </a:r>
          </a:p>
          <a:p>
            <a:pPr>
              <a:spcBef>
                <a:spcPts val="600"/>
              </a:spcBef>
              <a:defRPr sz="1050" b="1">
                <a:solidFill>
                  <a:srgbClr val="1E293B"/>
                </a:solidFill>
              </a:defRPr>
            </a:pPr>
            <a:r>
              <a:t>• Spring Security &amp; JWT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Stateless bearer token authentication &amp; RBAC</a:t>
            </a:r>
          </a:p>
          <a:p>
            <a:pPr>
              <a:spcBef>
                <a:spcPts val="600"/>
              </a:spcBef>
              <a:defRPr sz="1050" b="1">
                <a:solidFill>
                  <a:srgbClr val="1E293B"/>
                </a:solidFill>
              </a:defRPr>
            </a:pPr>
            <a:r>
              <a:t>• Spring Data JPA / Hibernate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Object-relational mapping with 22 repositories</a:t>
            </a:r>
          </a:p>
          <a:p>
            <a:pPr>
              <a:spcBef>
                <a:spcPts val="600"/>
              </a:spcBef>
              <a:defRPr sz="1050" b="1">
                <a:solidFill>
                  <a:srgbClr val="1E293B"/>
                </a:solidFill>
              </a:defRPr>
            </a:pPr>
            <a:r>
              <a:t>• iText PDF 5.5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Dynamic water bill invoice PDF document rendering</a:t>
            </a:r>
          </a:p>
          <a:p>
            <a:pPr>
              <a:spcBef>
                <a:spcPts val="600"/>
              </a:spcBef>
              <a:defRPr sz="1050" b="1">
                <a:solidFill>
                  <a:srgbClr val="1E293B"/>
                </a:solidFill>
              </a:defRPr>
            </a:pPr>
            <a:r>
              <a:t>• Spring Mail (JavaMail)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Asynchronous SMTP notification dispatch via TLS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64592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6432" y="1645920"/>
            <a:ext cx="2542032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9312" y="182880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FRONTEND PRESENTATION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2286000"/>
            <a:ext cx="21762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050" b="1">
                <a:solidFill>
                  <a:srgbClr val="1E293B"/>
                </a:solidFill>
              </a:defRPr>
            </a:pPr>
            <a:r>
              <a:t>• React 19 &amp; React DOM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Declarative component-driven user interface</a:t>
            </a:r>
          </a:p>
          <a:p>
            <a:pPr>
              <a:spcBef>
                <a:spcPts val="600"/>
              </a:spcBef>
              <a:defRPr sz="1050" b="1">
                <a:solidFill>
                  <a:srgbClr val="1E293B"/>
                </a:solidFill>
              </a:defRPr>
            </a:pPr>
            <a:r>
              <a:t>• Vite 6.0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Next-gen lightning fast bundler &amp; dev server</a:t>
            </a:r>
          </a:p>
          <a:p>
            <a:pPr>
              <a:spcBef>
                <a:spcPts val="600"/>
              </a:spcBef>
              <a:defRPr sz="1050" b="1">
                <a:solidFill>
                  <a:srgbClr val="1E293B"/>
                </a:solidFill>
              </a:defRPr>
            </a:pPr>
            <a:r>
              <a:t>• React Router DOM 7.1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Client-side routing and protected role guards</a:t>
            </a:r>
          </a:p>
          <a:p>
            <a:pPr>
              <a:spcBef>
                <a:spcPts val="600"/>
              </a:spcBef>
              <a:defRPr sz="1050" b="1">
                <a:solidFill>
                  <a:srgbClr val="1E293B"/>
                </a:solidFill>
              </a:defRPr>
            </a:pPr>
            <a:r>
              <a:t>• Bootstrap 5.3 &amp; Icons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Modern responsive layout &amp; iconography</a:t>
            </a:r>
          </a:p>
          <a:p>
            <a:pPr>
              <a:spcBef>
                <a:spcPts val="600"/>
              </a:spcBef>
              <a:defRPr sz="1050" b="1">
                <a:solidFill>
                  <a:srgbClr val="1E293B"/>
                </a:solidFill>
              </a:defRPr>
            </a:pPr>
            <a:r>
              <a:t>• Recharts 3.10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Real-time consumption histograms &amp; quantile graphs</a:t>
            </a:r>
          </a:p>
          <a:p>
            <a:pPr>
              <a:spcBef>
                <a:spcPts val="600"/>
              </a:spcBef>
              <a:defRPr sz="1050" b="1">
                <a:solidFill>
                  <a:srgbClr val="1E293B"/>
                </a:solidFill>
              </a:defRPr>
            </a:pPr>
            <a:r>
              <a:t>• Axios 1.7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HTTP client with automated JWT request interceptors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64592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645920"/>
            <a:ext cx="2542032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4224" y="182880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AI &amp; MACHINE LEARNING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224" y="2286000"/>
            <a:ext cx="21762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050" b="1">
                <a:solidFill>
                  <a:srgbClr val="1E293B"/>
                </a:solidFill>
              </a:defRPr>
            </a:pPr>
            <a:r>
              <a:t>• Python 3.12 &amp; FastAPI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Asynchronous high-throughput ML scoring microservice</a:t>
            </a:r>
          </a:p>
          <a:p>
            <a:pPr>
              <a:spcBef>
                <a:spcPts val="600"/>
              </a:spcBef>
              <a:defRPr sz="1050" b="1">
                <a:solidFill>
                  <a:srgbClr val="1E293B"/>
                </a:solidFill>
              </a:defRPr>
            </a:pPr>
            <a:r>
              <a:t>• Uvicorn ASGI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Ultra-fast production ASGI server execution</a:t>
            </a:r>
          </a:p>
          <a:p>
            <a:pPr>
              <a:spcBef>
                <a:spcPts val="600"/>
              </a:spcBef>
              <a:defRPr sz="1050" b="1">
                <a:solidFill>
                  <a:srgbClr val="1E293B"/>
                </a:solidFill>
              </a:defRPr>
            </a:pPr>
            <a:r>
              <a:t>• LightGBM Quantile Regressors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Gradient boosted models for q10, q50, q95 bounds</a:t>
            </a:r>
          </a:p>
          <a:p>
            <a:pPr>
              <a:spcBef>
                <a:spcPts val="600"/>
              </a:spcBef>
              <a:defRPr sz="1050" b="1">
                <a:solidFill>
                  <a:srgbClr val="1E293B"/>
                </a:solidFill>
              </a:defRPr>
            </a:pPr>
            <a:r>
              <a:t>• Scikit-Learn &amp; Pandas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Demographic feature engineering &amp; rolling transforms</a:t>
            </a:r>
          </a:p>
          <a:p>
            <a:pPr>
              <a:spcBef>
                <a:spcPts val="600"/>
              </a:spcBef>
              <a:defRPr sz="1050" b="1">
                <a:solidFill>
                  <a:srgbClr val="1E293B"/>
                </a:solidFill>
              </a:defRPr>
            </a:pPr>
            <a:r>
              <a:t>• Pydantic 2.7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Strict schema validation and type enforcement</a:t>
            </a:r>
          </a:p>
          <a:p>
            <a:pPr>
              <a:spcBef>
                <a:spcPts val="600"/>
              </a:spcBef>
              <a:defRPr sz="1050" b="1">
                <a:solidFill>
                  <a:srgbClr val="1E293B"/>
                </a:solidFill>
              </a:defRPr>
            </a:pPr>
            <a:r>
              <a:t>• Joblib 1.4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Optimized model serialization &amp; persistent disk caching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06256" y="164592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06256" y="1645920"/>
            <a:ext cx="2542032" cy="9144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89136" y="182880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STORAGE &amp; DEVOPS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9136" y="2286000"/>
            <a:ext cx="21762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050" b="1">
                <a:solidFill>
                  <a:srgbClr val="1E293B"/>
                </a:solidFill>
              </a:defRPr>
            </a:pPr>
            <a:r>
              <a:t>• MySQL 8.0 Database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Primary ACID relational store with strict constraints</a:t>
            </a:r>
          </a:p>
          <a:p>
            <a:pPr>
              <a:spcBef>
                <a:spcPts val="600"/>
              </a:spcBef>
              <a:defRPr sz="1050" b="1">
                <a:solidFill>
                  <a:srgbClr val="1E293B"/>
                </a:solidFill>
              </a:defRPr>
            </a:pPr>
            <a:r>
              <a:t>• HikariCP Pooling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Zero-overhead enterprise database connection pool</a:t>
            </a:r>
          </a:p>
          <a:p>
            <a:pPr>
              <a:spcBef>
                <a:spcPts val="600"/>
              </a:spcBef>
              <a:defRPr sz="1050" b="1">
                <a:solidFill>
                  <a:srgbClr val="1E293B"/>
                </a:solidFill>
              </a:defRPr>
            </a:pPr>
            <a:r>
              <a:t>• Apache Maven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Automated dependency resolution &amp; multi-phase builds</a:t>
            </a:r>
          </a:p>
          <a:p>
            <a:pPr>
              <a:spcBef>
                <a:spcPts val="600"/>
              </a:spcBef>
              <a:defRPr sz="1050" b="1">
                <a:solidFill>
                  <a:srgbClr val="1E293B"/>
                </a:solidFill>
              </a:defRPr>
            </a:pPr>
            <a:r>
              <a:t>• Docker &amp; Dockerfile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Containerization readiness for ML microservice</a:t>
            </a:r>
          </a:p>
          <a:p>
            <a:pPr>
              <a:spcBef>
                <a:spcPts val="600"/>
              </a:spcBef>
              <a:defRPr sz="1050" b="1">
                <a:solidFill>
                  <a:srgbClr val="1E293B"/>
                </a:solidFill>
              </a:defRPr>
            </a:pPr>
            <a:r>
              <a:t>• Springdoc OpenAPI 2.5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Interactive Swagger 3.0 API docs at /swagger-ui.html</a:t>
            </a:r>
          </a:p>
          <a:p>
            <a:pPr>
              <a:spcBef>
                <a:spcPts val="600"/>
              </a:spcBef>
              <a:defRPr sz="1050" b="1">
                <a:solidFill>
                  <a:srgbClr val="1E293B"/>
                </a:solidFill>
              </a:defRPr>
            </a:pPr>
            <a:r>
              <a:t>• In-JVM Failover Engine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Zero-downtime statistical fallback on service timeout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5 ·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Hybrid Distributed Service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Decoupled presentation, enterprise business core, and resilient ML microservice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82296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CLIENT TIER</a:t>
            </a:r>
          </a:p>
          <a:p>
            <a:pPr>
              <a:spcBef>
                <a:spcPts val="300"/>
              </a:spcBef>
              <a:defRPr sz="1050">
                <a:solidFill>
                  <a:srgbClr val="FFFFFF"/>
                </a:solidFill>
              </a:defRPr>
            </a:pPr>
            <a:r>
              <a:t>React 19 SPA (Vite)  ·  Role-Segregated Dashboards (Admin, Owner, Resident)  ·  Recharts Visualizations  ·  Axios JWT Interceptor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51760"/>
            <a:ext cx="10728655" cy="640080"/>
          </a:xfrm>
          <a:prstGeom prst="roundRect">
            <a:avLst/>
          </a:prstGeom>
          <a:solidFill>
            <a:srgbClr val="2F3F56"/>
          </a:solidFill>
          <a:ln w="1524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SECURITY &amp; ROUTING</a:t>
            </a:r>
          </a:p>
          <a:p>
            <a:pPr>
              <a:spcBef>
                <a:spcPts val="300"/>
              </a:spcBef>
              <a:defRPr sz="1050">
                <a:solidFill>
                  <a:srgbClr val="FFFFFF"/>
                </a:solidFill>
              </a:defRPr>
            </a:pPr>
            <a:r>
              <a:t>Spring Security 6  ·  CORS Filter  ·  Stateless JwtAuthenticationFilter  ·  Role-Based Access Control (RBAC)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474720"/>
            <a:ext cx="10728655" cy="128016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ENTERPRISE BUSINESS BACKEND</a:t>
            </a:r>
          </a:p>
          <a:p>
            <a:pPr>
              <a:spcBef>
                <a:spcPts val="300"/>
              </a:spcBef>
              <a:defRPr sz="1050">
                <a:solidFill>
                  <a:srgbClr val="FFFFFF"/>
                </a:solidFill>
              </a:defRPr>
            </a:pPr>
            <a:r>
              <a:t>Java 17 / Spring Boot 3.2.5  |  REST API Controllers (/api)  |  BulkBillingService  |  TariffCalculationService</a:t>
            </a:r>
            <a:br/>
            <a:r>
              <a:t>OccupancyService  |  AlertScheduler Cron  |  iText PDF Generator  |  Spring RestClient with In-JVM Statistical Fallback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37760"/>
            <a:ext cx="5212080" cy="10972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STORAGE &amp; DATA ACCESS</a:t>
            </a:r>
          </a:p>
          <a:p>
            <a:pPr>
              <a:spcBef>
                <a:spcPts val="300"/>
              </a:spcBef>
              <a:defRPr sz="1050">
                <a:solidFill>
                  <a:srgbClr val="FFFFFF"/>
                </a:solidFill>
              </a:defRPr>
            </a:pPr>
            <a:r>
              <a:t>MySQL 8.0 Relational Database</a:t>
            </a:r>
            <a:br/>
            <a:r>
              <a:t>HikariCP Connection Pool  ·  Hibernate ORM 6.4</a:t>
            </a:r>
            <a:br/>
            <a:r>
              <a:t>16 Normalized Entities with Strict Referential Integrity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937760"/>
            <a:ext cx="5242255" cy="10972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5029200"/>
            <a:ext cx="4876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PYTHON ML MICROSERVICE</a:t>
            </a:r>
          </a:p>
          <a:p>
            <a:pPr>
              <a:spcBef>
                <a:spcPts val="300"/>
              </a:spcBef>
              <a:defRPr sz="1050">
                <a:solidFill>
                  <a:srgbClr val="FFFFFF"/>
                </a:solidFill>
              </a:defRPr>
            </a:pPr>
            <a:r>
              <a:t>Python 3.12 / FastAPI (Port 8000)</a:t>
            </a:r>
            <a:br/>
            <a:r>
              <a:t>LightGBM Quantile Regressors (q10, q50, q95)</a:t>
            </a:r>
            <a:br/>
            <a:r>
              <a:t>X-API-KEY Verification  ·  Sub-50ms Inference Latency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6 · USER ROLES &amp;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Multi-Tenant Role-Based Access Control (RBAC)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Strict separation of concerns with hierarchical governance across 3 personas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47288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3447288" cy="914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898648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293B"/>
                </a:solidFill>
              </a:defRPr>
            </a:pPr>
            <a:r>
              <a:t>SUPER ADMIN</a:t>
            </a:r>
          </a:p>
          <a:p>
            <a:pPr>
              <a:defRPr sz="1000" b="1">
                <a:solidFill>
                  <a:srgbClr val="0EA5E9"/>
                </a:solidFill>
              </a:defRPr>
            </a:pPr>
            <a:r>
              <a:t>ROLE_SUPER_ADMIN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289864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 Platform root administrator &amp; oversight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 Building Owner verification &amp; approval gate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 Platform-wide consumption &amp; revenue analytics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 Prevents unvetted properties from public view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 Owner registration audit logs &amp; status history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 System configuration &amp; health monitoring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1645920"/>
            <a:ext cx="3447288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61688" y="1645920"/>
            <a:ext cx="3447288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1828800"/>
            <a:ext cx="2898648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293B"/>
                </a:solidFill>
              </a:defRPr>
            </a:pPr>
            <a:r>
              <a:t>BUILDING OWNER</a:t>
            </a:r>
          </a:p>
          <a:p>
            <a:pPr>
              <a:defRPr sz="1000" b="1">
                <a:solidFill>
                  <a:srgbClr val="10B981"/>
                </a:solidFill>
              </a:defRPr>
            </a:pPr>
            <a:r>
              <a:t>ROLE_BUILDING_OWNER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2468880"/>
            <a:ext cx="289864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 Building &amp; apartment inventory management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 Water meter pairing &amp; telemetry ingestion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 Bulk water tanker &amp; municipal purchase logging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 Dynamic markup % setting &amp; 3-tier tariff control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 1-Click automated monthly bulk billing calculation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 Resident management &amp; occupancy approval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 Property-wide leak incident monitoring &amp; dispatch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645920"/>
            <a:ext cx="3447288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91856" y="1645920"/>
            <a:ext cx="3447288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6176" y="1828800"/>
            <a:ext cx="2898648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293B"/>
                </a:solidFill>
              </a:defRPr>
            </a:pPr>
            <a:r>
              <a:t>RESIDENT</a:t>
            </a:r>
          </a:p>
          <a:p>
            <a:pPr>
              <a:defRPr sz="1000" b="1">
                <a:solidFill>
                  <a:srgbClr val="F59E0B"/>
                </a:solidFill>
              </a:defRPr>
            </a:pPr>
            <a:r>
              <a:t>ROLE_RESIDENT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6" y="2468880"/>
            <a:ext cx="289864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 Self-service onboarding into approved buildings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 Real-time daily &amp; hourly consumption histograms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 Detailed 3-tier water bill review &amp; PDF download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 Simulated 1-click online bill payment gateway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 Household occupant count declaration &amp; updates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 Vacation away-period scheduling (leak suppression)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 Active leak incident feedback (Confirmed / False Alarm)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7 · RESIDENT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Resident Dashboard &amp; Self-Service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Empowering residents with transparent billing, telemetry insights, and false-alarm controls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47288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" y="1920240"/>
            <a:ext cx="9144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28986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293B"/>
                </a:solidFill>
              </a:defRPr>
            </a:pPr>
            <a:r>
              <a:t>TELEMETRY &amp; USAGE CHARTS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60320"/>
            <a:ext cx="2898648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Hourly &amp; daily consumption telemetry visualized via Recharts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Comparative usage benchmarks against peer building averages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Real-time visibility into current cycle cumulative usage (kL)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Visual alerts when consumption crosses Tier 1 threshold into higher rate slabs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1645920"/>
            <a:ext cx="3447288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36008" y="1920240"/>
            <a:ext cx="9144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2057400"/>
            <a:ext cx="28986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293B"/>
                </a:solidFill>
              </a:defRPr>
            </a:pPr>
            <a:r>
              <a:t>TRANSPARENT BILLS &amp; PAYMENTS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2560320"/>
            <a:ext cx="2898648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Itemized breakdown across Tier 1, Tier 2, and Tier 3 brackets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Full visibility into base rates, multipliers, and previous meter delta readings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1-Click simulated instant payment gateway updating bill status to PAID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Downloadable official iText PDF invoices with embedded receipt metadata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645920"/>
            <a:ext cx="3447288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66176" y="1920240"/>
            <a:ext cx="9144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6176" y="2057400"/>
            <a:ext cx="28986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293B"/>
                </a:solidFill>
              </a:defRPr>
            </a:pPr>
            <a:r>
              <a:t>HOUSEHOLD SIZE &amp; AWAY PERIODS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6" y="2560320"/>
            <a:ext cx="2898648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Self-declaration of flat occupant count (1 to 15 persons)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Dynamic normalization of expected baseline water consumption per capita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Scheduling of upcoming travel / vacation away-periods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Suppresses false-positive leak alarms while home is verified unoccupied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8 · BUILDING OWNER 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Property Portfolio &amp; Tenant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Centralized property, meter, tenant, and bulk billing lifecycle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47288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" y="1920240"/>
            <a:ext cx="9144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28986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293B"/>
                </a:solidFill>
              </a:defRPr>
            </a:pPr>
            <a:r>
              <a:t>PROPERTY &amp; METER CATALOG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60320"/>
            <a:ext cx="2898648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Multi-building hierarchy with custom flat configurations (1BHK, 2BHK, 3BHK, Penthouse)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Digital water meter binding per flat with serial number and initial reading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Vacant flat tracking &amp; dynamic occupancy capacity analytics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Real-time overview of unassigned meters and active residential occupancies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1645920"/>
            <a:ext cx="3447288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36008" y="1920240"/>
            <a:ext cx="9144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2057400"/>
            <a:ext cx="28986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293B"/>
                </a:solidFill>
              </a:defRPr>
            </a:pPr>
            <a:r>
              <a:t>TENANT &amp; INVITATION WORKFLOW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2560320"/>
            <a:ext cx="2898648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Review and approve incoming resident occupancy self-requests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Generate and email secure tokenized invitation links to prospective tenants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One-click lease termination and tenant move-out processing with final bill settlement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Permanent audit log of historical flat tenancies and occupancy dates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645920"/>
            <a:ext cx="3447288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66176" y="1920240"/>
            <a:ext cx="9144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6176" y="2057400"/>
            <a:ext cx="28986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293B"/>
                </a:solidFill>
              </a:defRPr>
            </a:pPr>
            <a:r>
              <a:t>BULK BILLING &amp; INVOICING 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6" y="2560320"/>
            <a:ext cx="2898648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Create monthly billing cycles with automated start and end date calculation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1-Click batch bill generation across all occupied apartments in seconds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Automatic calculation of 3-tier progressive tariffs per flat delta consumption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Bulk PDF invoice compilation and automated email dispatch to tenants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9 · DYNAMIC TARIFF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Procurement-Based 3-Tier Tariff Formula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Fair pricing that adapts dynamically to bulk water purchase costs and tanker pricing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542032" cy="1645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22677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STEP 1: BULK PURCHASES</a:t>
            </a:r>
          </a:p>
          <a:p>
            <a:pPr>
              <a:spcBef>
                <a:spcPts val="200"/>
              </a:spcBef>
              <a:defRPr sz="1200" b="1">
                <a:solidFill>
                  <a:srgbClr val="1E293B"/>
                </a:solidFill>
              </a:defRPr>
            </a:pPr>
            <a:r>
              <a:t>Log Water Procurements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Owner logs municipal and private water tanker loads with volume (kL) and cost ($)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645920"/>
            <a:ext cx="2542032" cy="1645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1737360"/>
            <a:ext cx="22677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STEP 2: AVERAGE COST</a:t>
            </a:r>
          </a:p>
          <a:p>
            <a:pPr>
              <a:spcBef>
                <a:spcPts val="200"/>
              </a:spcBef>
              <a:defRPr sz="1200" b="1">
                <a:solidFill>
                  <a:srgbClr val="1E293B"/>
                </a:solidFill>
              </a:defRPr>
            </a:pPr>
            <a:r>
              <a:t>Compute Weighted Unit Cost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Average Procurement Cost = Total Water Purchase Cost / Total Volume (kL)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645920"/>
            <a:ext cx="2542032" cy="1645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8504" y="1737360"/>
            <a:ext cx="22677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STEP 3: OWNER MARKUP %</a:t>
            </a:r>
          </a:p>
          <a:p>
            <a:pPr>
              <a:spcBef>
                <a:spcPts val="200"/>
              </a:spcBef>
              <a:defRPr sz="1200" b="1">
                <a:solidFill>
                  <a:srgbClr val="1E293B"/>
                </a:solidFill>
              </a:defRPr>
            </a:pPr>
            <a:r>
              <a:t>Apply Property Margin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Base Tariff = Average Procurement Cost * (1 + Owner Markup % / 100)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1645920"/>
            <a:ext cx="2542032" cy="1645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43416" y="1737360"/>
            <a:ext cx="22677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43F5E"/>
                </a:solidFill>
              </a:defRPr>
            </a:pPr>
            <a:r>
              <a:t>STEP 4: 3-TIER SLABS</a:t>
            </a:r>
          </a:p>
          <a:p>
            <a:pPr>
              <a:spcBef>
                <a:spcPts val="200"/>
              </a:spcBef>
              <a:defRPr sz="1200" b="1">
                <a:solidFill>
                  <a:srgbClr val="1E293B"/>
                </a:solidFill>
              </a:defRPr>
            </a:pPr>
            <a:r>
              <a:t>Compute Progressive Tiers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Tier 1: Base * 1.00  |  Tier 2: Base * 1.25  |  Tier 3: Base * 1.50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74720"/>
            <a:ext cx="10728655" cy="2651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57600"/>
            <a:ext cx="10149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293B"/>
                </a:solidFill>
              </a:defRPr>
            </a:pPr>
            <a:r>
              <a:t>THE 3-TIER PROGRESSIVE SLAB BREAKDOWN</a:t>
            </a:r>
          </a:p>
          <a:p>
            <a:pPr>
              <a:spcBef>
                <a:spcPts val="600"/>
              </a:spcBef>
              <a:defRPr sz="1150" b="1">
                <a:solidFill>
                  <a:srgbClr val="0EA5E9"/>
                </a:solidFill>
              </a:defRPr>
            </a:pPr>
            <a:r>
              <a:t>•  Tier 1: Conserving Baseline (0 - 20 kL)  [Multiplier: 1.00x Base Rate]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    Standard essential consumption for basic household requirements. Incurred at baseline rate to reward conservation.</a:t>
            </a:r>
          </a:p>
          <a:p>
            <a:pPr>
              <a:spcBef>
                <a:spcPts val="600"/>
              </a:spcBef>
              <a:defRPr sz="1150" b="1">
                <a:solidFill>
                  <a:srgbClr val="F59E0B"/>
                </a:solidFill>
              </a:defRPr>
            </a:pPr>
            <a:r>
              <a:t>•  Tier 2: Moderate Consumption (20 - 40 kL)  [Multiplier: 1.25x Base Rate]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    Above-average domestic consumption. Billed at 25% premium above base tariff to encourage mindful usage.</a:t>
            </a:r>
          </a:p>
          <a:p>
            <a:pPr>
              <a:spcBef>
                <a:spcPts val="600"/>
              </a:spcBef>
              <a:defRPr sz="1150" b="1">
                <a:solidFill>
                  <a:srgbClr val="F43F5E"/>
                </a:solidFill>
              </a:defRPr>
            </a:pPr>
            <a:r>
              <a:t>•  Tier 3: Heavy Usage / Penalty (&gt; 40 kL)  [Multiplier: 1.50x Base Rate]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    Excessive water usage (e.g. garden irrigation, car washing, unreported leakage). 50% surcharge penalty.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10 · BILLING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End-to-End Automated Invoicing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From water meter telemetry ingestion to payment reconciliation and PDF generation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47288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3447288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308152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</a:defRPr>
            </a:pPr>
            <a:r>
              <a:t>1. CYCLE CREATION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Owner defines active billing cycle window (e.g. Oct 1 to Oct 31).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645920"/>
            <a:ext cx="3447288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61688" y="1645920"/>
            <a:ext cx="3447288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28800"/>
            <a:ext cx="308152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</a:defRPr>
            </a:pPr>
            <a:r>
              <a:t>2. WATER INGESTION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Bulk tanker receipts &amp; digital water meter telemetry recorded.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91856" y="1645920"/>
            <a:ext cx="3447288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91856" y="1645920"/>
            <a:ext cx="3447288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1828800"/>
            <a:ext cx="308152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</a:defRPr>
            </a:pPr>
            <a:r>
              <a:t>3. TARIFF RECALCULATION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Dynamic base tariff &amp; 3-tier rates automatically updated.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931920"/>
            <a:ext cx="3447288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931920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14800"/>
            <a:ext cx="308152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</a:defRPr>
            </a:pPr>
            <a:r>
              <a:t>4. BATCH BILL CALCULATION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Delta consumption volume matched against tier thresholds.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3931920"/>
            <a:ext cx="3447288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1688" y="3931920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4114800"/>
            <a:ext cx="308152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</a:defRPr>
            </a:pPr>
            <a:r>
              <a:t>5. PDF INVOICE RENDERING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iText PDF engine builds official downloadable tax invoices.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91856" y="3931920"/>
            <a:ext cx="3447288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1856" y="3931920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74736" y="4114800"/>
            <a:ext cx="308152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</a:defRPr>
            </a:pPr>
            <a:r>
              <a:t>6. PAYMENT RECONCILIATION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Residents pay online; accounts marked PAID with instant receipt.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11 · SUPER ADMIN CONSOLE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Platform Oversight &amp; Owner Verification Gatekeeper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Super Admin gatekeeping prevents unapproved property listings and protects residents</a:t>
            </a:r>
          </a:p>
        </p:txBody>
      </p:sp>
      <p:pic>
        <p:nvPicPr>
          <p:cNvPr id="6" name="Picture 5" descr="media_1792089881259_b1146f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38801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645920"/>
            <a:ext cx="6217920" cy="4480560"/>
          </a:xfrm>
          <a:prstGeom prst="roundRect">
            <a:avLst/>
          </a:prstGeom>
          <a:noFill/>
          <a:ln w="1524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0" y="1645920"/>
            <a:ext cx="4327855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0" y="1828800"/>
            <a:ext cx="377921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293B"/>
                </a:solidFill>
              </a:defRPr>
            </a:pPr>
            <a:r>
              <a:t>SUPER ADMIN GOVERNANCE CONTROLS</a:t>
            </a:r>
          </a:p>
          <a:p>
            <a:pPr>
              <a:spcBef>
                <a:spcPts val="800"/>
              </a:spcBef>
              <a:defRPr sz="1100" b="1">
                <a:solidFill>
                  <a:srgbClr val="0EA5E9"/>
                </a:solidFill>
              </a:defRPr>
            </a:pPr>
            <a:r>
              <a:t>•  Approval Gatekeeper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 Newly registered Building Owners default to PENDING status and cannot publish buildings until vetted.</a:t>
            </a:r>
          </a:p>
          <a:p>
            <a:pPr>
              <a:spcBef>
                <a:spcPts val="800"/>
              </a:spcBef>
              <a:defRPr sz="1100" b="1">
                <a:solidFill>
                  <a:srgbClr val="0EA5E9"/>
                </a:solidFill>
              </a:defRPr>
            </a:pPr>
            <a:r>
              <a:t>•  Inventory Isolation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 Unapproved owners and their apartments are strictly hidden from public registration dropdowns and occupancy requests.</a:t>
            </a:r>
          </a:p>
          <a:p>
            <a:pPr>
              <a:spcBef>
                <a:spcPts val="800"/>
              </a:spcBef>
              <a:defRPr sz="1100" b="1">
                <a:solidFill>
                  <a:srgbClr val="0EA5E9"/>
                </a:solidFill>
              </a:defRPr>
            </a:pPr>
            <a:r>
              <a:t>•  Platform-Wide Metrics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 Global visibility into active building counts, aggregate water consumption, and total bill revenues.</a:t>
            </a:r>
          </a:p>
          <a:p>
            <a:pPr>
              <a:spcBef>
                <a:spcPts val="800"/>
              </a:spcBef>
              <a:defRPr sz="1100" b="1">
                <a:solidFill>
                  <a:srgbClr val="0EA5E9"/>
                </a:solidFill>
              </a:defRPr>
            </a:pPr>
            <a:r>
              <a:t>•  Audit History Trail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 Immutable record of owner approval decisions, rejections, and profile modifications.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12 · AI LEAK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Quantile Regression &amp; Anomaly Scoring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Predicting consumption bounds rather than naive fixed thresholds</a:t>
            </a:r>
          </a:p>
        </p:txBody>
      </p:sp>
      <p:pic>
        <p:nvPicPr>
          <p:cNvPr id="6" name="Picture 5" descr="media_1792084523953_38eb14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578679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645920"/>
            <a:ext cx="6217920" cy="4480560"/>
          </a:xfrm>
          <a:prstGeom prst="roundRect">
            <a:avLst/>
          </a:prstGeom>
          <a:noFill/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0" y="1645920"/>
            <a:ext cx="4327855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0" y="1828800"/>
            <a:ext cx="377921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293B"/>
                </a:solidFill>
              </a:defRPr>
            </a:pPr>
            <a:r>
              <a:t>LIGHTGBM QUANTILE REGRESSION</a:t>
            </a:r>
          </a:p>
          <a:p>
            <a:pPr>
              <a:spcBef>
                <a:spcPts val="800"/>
              </a:spcBef>
              <a:defRPr sz="1100" b="1">
                <a:solidFill>
                  <a:srgbClr val="F43F5E"/>
                </a:solidFill>
              </a:defRPr>
            </a:pPr>
            <a:r>
              <a:t>•  Beyond Static Thresholds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 A 500L spike is normal for a 5-person family but indicative of a burst pipe for a single resident.</a:t>
            </a:r>
          </a:p>
          <a:p>
            <a:pPr>
              <a:spcBef>
                <a:spcPts val="800"/>
              </a:spcBef>
              <a:defRPr sz="1100" b="1">
                <a:solidFill>
                  <a:srgbClr val="F43F5E"/>
                </a:solidFill>
              </a:defRPr>
            </a:pPr>
            <a:r>
              <a:t>•  Quantile Bounds (q10, q50, q95)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 LightGBM models predict expected minimum (q10), median (q50), and 95th percentile upper limit (q95).</a:t>
            </a:r>
          </a:p>
          <a:p>
            <a:pPr>
              <a:spcBef>
                <a:spcPts val="800"/>
              </a:spcBef>
              <a:defRPr sz="1100" b="1">
                <a:solidFill>
                  <a:srgbClr val="F43F5E"/>
                </a:solidFill>
              </a:defRPr>
            </a:pPr>
            <a:r>
              <a:t>•  Demographic &amp; Cycle Normalization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 Normalizes monthly kL into daily rates by cycle days (30/31d), factoring household size, BHK type, and away days.</a:t>
            </a:r>
          </a:p>
          <a:p>
            <a:pPr>
              <a:spcBef>
                <a:spcPts val="800"/>
              </a:spcBef>
              <a:defRPr sz="1100" b="1">
                <a:solidFill>
                  <a:srgbClr val="F43F5E"/>
                </a:solidFill>
              </a:defRPr>
            </a:pPr>
            <a:r>
              <a:t>•  Continuous Risk Score &amp; Pattern Attribution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 Calculates 0–100% risk score and flags patterns: SUDDEN_SPIKE, GRADUAL_DRIFT, or AWAY_USAGE with explainable reasons.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13 · RESILIENCE &amp; FAULT TOLERANCE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Dual-Engine Fail-Safe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Zero downtime guarantee: In-JVM statistical fallback on ML service interruption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47288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" y="1920240"/>
            <a:ext cx="9144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28986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293B"/>
                </a:solidFill>
              </a:defRPr>
            </a:pPr>
            <a:r>
              <a:t>PRIMARY PATH: PYTHON FASTAPI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60320"/>
            <a:ext cx="2898648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Spring RestClient dispatches batch of flat features to Python ML service on port 8000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Authenticated with X-API-KEY header and configured with 5000ms read/connect timeout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Returns LightGBM quantile bounds, normalized risk scores (0 to 1.0), and reason codes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Sub-50ms high-throughput inference across hundreds of apartments in parallel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1645920"/>
            <a:ext cx="3447288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36008" y="1920240"/>
            <a:ext cx="9144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2057400"/>
            <a:ext cx="28986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293B"/>
                </a:solidFill>
              </a:defRPr>
            </a:pPr>
            <a:r>
              <a:t>FAILOVER PATH: IN-JVM STATISTICAL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2560320"/>
            <a:ext cx="2898648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Triggered automatically if Python service times out, returns 5xx error, or is offline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Executes in-memory heuristic calculation: Threshold = Rolling Mean + 2 * StdDev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Scaled by household occupant count and suppressed for active away periods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Zero exceptions thrown: Daily alert scheduler completes without interruption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645920"/>
            <a:ext cx="3447288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66176" y="1920240"/>
            <a:ext cx="9144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6176" y="2057400"/>
            <a:ext cx="28986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293B"/>
                </a:solidFill>
              </a:defRPr>
            </a:pPr>
            <a:r>
              <a:t>BUSINESS CONTINUITY ASSURANCE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6" y="2560320"/>
            <a:ext cx="2898648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Prevents single-point-of-failure (SPOF) risks inherent in distributed microservices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Billing cycles and daily scheduled leak detections are never blocked by network outages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System logs automated warning and marks incident source as STATISTICAL_FALLBACK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Seamless self-healing: Remote ML calls automatically resume once microservice recovers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14 · ACTIVE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Closing the Loop with Resident Feedback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Turning resident incident feedback into high-value training data to eliminate false alarms</a:t>
            </a:r>
          </a:p>
        </p:txBody>
      </p:sp>
      <p:pic>
        <p:nvPicPr>
          <p:cNvPr id="6" name="Picture 5" descr="media_1792086604435_0c311c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38801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645920"/>
            <a:ext cx="6217920" cy="4480560"/>
          </a:xfrm>
          <a:prstGeom prst="roundRect">
            <a:avLst/>
          </a:prstGeom>
          <a:noFill/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0" y="1645920"/>
            <a:ext cx="4327855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0" y="1828800"/>
            <a:ext cx="377921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293B"/>
                </a:solidFill>
              </a:defRPr>
            </a:pPr>
            <a:r>
              <a:t>RESIDENT FEEDBACK CYCLE</a:t>
            </a:r>
          </a:p>
          <a:p>
            <a:pPr>
              <a:spcBef>
                <a:spcPts val="800"/>
              </a:spcBef>
              <a:defRPr sz="1100" b="1">
                <a:solidFill>
                  <a:srgbClr val="10B981"/>
                </a:solidFill>
              </a:defRPr>
            </a:pPr>
            <a:r>
              <a:t>•  Actionable Incident Modal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 Residents receive a modal detailing detected leak severity, consumption spike amount, and suspected causes.</a:t>
            </a:r>
          </a:p>
          <a:p>
            <a:pPr>
              <a:spcBef>
                <a:spcPts val="800"/>
              </a:spcBef>
              <a:defRPr sz="1100" b="1">
                <a:solidFill>
                  <a:srgbClr val="10B981"/>
                </a:solidFill>
              </a:defRPr>
            </a:pPr>
            <a:r>
              <a:t>•  Structured Feedback Options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 Residents categorize the event: Confirmed Leak (e.g. toilet flush valve), False Alarm (guests/washing), or Resolved.</a:t>
            </a:r>
          </a:p>
          <a:p>
            <a:pPr>
              <a:spcBef>
                <a:spcPts val="800"/>
              </a:spcBef>
              <a:defRPr sz="1100" b="1">
                <a:solidFill>
                  <a:srgbClr val="10B981"/>
                </a:solidFill>
              </a:defRPr>
            </a:pPr>
            <a:r>
              <a:t>•  Ground-Truth Collection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 Submitted feedback is persisted into leak_feedbacks table with resident notes and timestamps.</a:t>
            </a:r>
          </a:p>
          <a:p>
            <a:pPr>
              <a:spcBef>
                <a:spcPts val="800"/>
              </a:spcBef>
              <a:defRPr sz="1100" b="1">
                <a:solidFill>
                  <a:srgbClr val="10B981"/>
                </a:solidFill>
              </a:defRPr>
            </a:pPr>
            <a:r>
              <a:t>•  Automated Retraining Script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 retrain_from_feedback.py periodically ingests verified feedback to fine-tune quantile boundaries and prevent repeats.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15 · NOTIFICATIONS &amp; ALERTS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Multi-Channel Event-Driven Notification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Real-time in-app alerts and asynchronous email dispatch powered by Spring Boot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47288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" y="1920240"/>
            <a:ext cx="9144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28986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293B"/>
                </a:solidFill>
              </a:defRPr>
            </a:pPr>
            <a:r>
              <a:t>ASYNCHRONOUS EMAIL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60320"/>
            <a:ext cx="2898648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Spring JavaMailSender integrated with SMTP over secure TLS (port 587)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Dedicated background thread pool ensures HTTP request threads are never blocked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Automatic dispatch of monthly water bill invoices with itemized tier breakdown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Instant payment receipt confirmation emails with transaction references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1645920"/>
            <a:ext cx="3447288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36008" y="1920240"/>
            <a:ext cx="9144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2057400"/>
            <a:ext cx="28986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293B"/>
                </a:solidFill>
              </a:defRPr>
            </a:pPr>
            <a:r>
              <a:t>IN-APP ALERT NOTIFICATIONS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2560320"/>
            <a:ext cx="2898648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Real-time badge counter and notification dropdown in top navigation bar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Severity-based visual styling: LOW (Blue), MEDIUM (Amber), HIGH (Orange), CRITICAL (Red)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One-click deep link to navigate directly to incident feedback or billing review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Mark as read and historical alert filtering for audit compliance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645920"/>
            <a:ext cx="3447288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66176" y="1920240"/>
            <a:ext cx="9144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6176" y="2057400"/>
            <a:ext cx="28986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293B"/>
                </a:solidFill>
              </a:defRPr>
            </a:pPr>
            <a:r>
              <a:t>EVENT-DRIVEN DISPATCH TRIGGERS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6" y="2560320"/>
            <a:ext cx="2898648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CRITICAL_LEAK_DETECTED: Immediate notification to both resident and building owner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BILL_GENERATED: Monthly bill summary sent to resident email upon cycle finalization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PAYMENT_CONFIRMED: Instant settlement acknowledgment for online payments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OWNER_APPROVED: Super Admin sends activation confirmation email to approved owner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16 · 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Relational Schema &amp; Entity-Relationship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16 normalized entities in MySQL 8 ensuring strict data integrity and referential safety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2542032" cy="914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IDENTITY &amp; PROPERTY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21762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0EA5E9"/>
                </a:solidFill>
              </a:defRPr>
            </a:pPr>
            <a:r>
              <a:t>• users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User credentials, roles (ADMIN/OWNER/RESIDENT), profile</a:t>
            </a:r>
          </a:p>
          <a:p>
            <a:pPr>
              <a:spcBef>
                <a:spcPts val="600"/>
              </a:spcBef>
              <a:defRPr sz="1100" b="1">
                <a:solidFill>
                  <a:srgbClr val="0EA5E9"/>
                </a:solidFill>
              </a:defRPr>
            </a:pPr>
            <a:r>
              <a:t>• building_owners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Owner metadata, business contact, approval_status</a:t>
            </a:r>
          </a:p>
          <a:p>
            <a:pPr>
              <a:spcBef>
                <a:spcPts val="600"/>
              </a:spcBef>
              <a:defRPr sz="1100" b="1">
                <a:solidFill>
                  <a:srgbClr val="0EA5E9"/>
                </a:solidFill>
              </a:defRPr>
            </a:pPr>
            <a:r>
              <a:t>• buildings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Building name, number, address, total flats count</a:t>
            </a:r>
          </a:p>
          <a:p>
            <a:pPr>
              <a:spcBef>
                <a:spcPts val="600"/>
              </a:spcBef>
              <a:defRPr sz="1100" b="1">
                <a:solidFill>
                  <a:srgbClr val="0EA5E9"/>
                </a:solidFill>
              </a:defRPr>
            </a:pPr>
            <a:r>
              <a:t>• apartments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Flat number, floor, unit type (2BHK, 3BHK),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64592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6432" y="1645920"/>
            <a:ext cx="2542032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9312" y="182880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TENANCY &amp; OCCUPANCY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2286000"/>
            <a:ext cx="21762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10B981"/>
                </a:solidFill>
              </a:defRPr>
            </a:pPr>
            <a:r>
              <a:t>• apartment_occupancies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Active resident lease mapping with start/end dates</a:t>
            </a:r>
          </a:p>
          <a:p>
            <a:pPr>
              <a:spcBef>
                <a:spcPts val="600"/>
              </a:spcBef>
              <a:defRPr sz="1100" b="1">
                <a:solidFill>
                  <a:srgbClr val="10B981"/>
                </a:solidFill>
              </a:defRPr>
            </a:pPr>
            <a:r>
              <a:t>• occupancy_requests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Resident onboarding requests pending owner approval</a:t>
            </a:r>
          </a:p>
          <a:p>
            <a:pPr>
              <a:spcBef>
                <a:spcPts val="600"/>
              </a:spcBef>
              <a:defRPr sz="1100" b="1">
                <a:solidFill>
                  <a:srgbClr val="10B981"/>
                </a:solidFill>
              </a:defRPr>
            </a:pPr>
            <a:r>
              <a:t>• resident_invitations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Secure tokenized invitation links sent via email</a:t>
            </a:r>
          </a:p>
          <a:p>
            <a:pPr>
              <a:spcBef>
                <a:spcPts val="600"/>
              </a:spcBef>
              <a:defRPr sz="1100" b="1">
                <a:solidFill>
                  <a:srgbClr val="10B981"/>
                </a:solidFill>
              </a:defRPr>
            </a:pPr>
            <a:r>
              <a:t>• household_size_histories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Historical audit log of occupant count changes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64592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645920"/>
            <a:ext cx="2542032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4224" y="182880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METERING &amp; BILLING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224" y="2286000"/>
            <a:ext cx="21762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F59E0B"/>
                </a:solidFill>
              </a:defRPr>
            </a:pPr>
            <a:r>
              <a:t>• water_meters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Hardware meter serial number, current reading, flat link</a:t>
            </a:r>
          </a:p>
          <a:p>
            <a:pPr>
              <a:spcBef>
                <a:spcPts val="600"/>
              </a:spcBef>
              <a:defRPr sz="1100" b="1">
                <a:solidFill>
                  <a:srgbClr val="F59E0B"/>
                </a:solidFill>
              </a:defRPr>
            </a:pPr>
            <a:r>
              <a:t>• water_usages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Hourly telemetry logs recording flow &amp; consumption</a:t>
            </a:r>
          </a:p>
          <a:p>
            <a:pPr>
              <a:spcBef>
                <a:spcPts val="600"/>
              </a:spcBef>
              <a:defRPr sz="1100" b="1">
                <a:solidFill>
                  <a:srgbClr val="F59E0B"/>
                </a:solidFill>
              </a:defRPr>
            </a:pPr>
            <a:r>
              <a:t>• water_purchases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Tanker &amp; bulk water purchases (volume, cost, vendor)</a:t>
            </a:r>
          </a:p>
          <a:p>
            <a:pPr>
              <a:spcBef>
                <a:spcPts val="600"/>
              </a:spcBef>
              <a:defRPr sz="1100" b="1">
                <a:solidFill>
                  <a:srgbClr val="F59E0B"/>
                </a:solidFill>
              </a:defRPr>
            </a:pPr>
            <a:r>
              <a:t>• tariff_plans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Active 3-tier rates, base tariff, markup % per cycle</a:t>
            </a:r>
          </a:p>
          <a:p>
            <a:pPr>
              <a:spcBef>
                <a:spcPts val="600"/>
              </a:spcBef>
              <a:defRPr sz="1100" b="1">
                <a:solidFill>
                  <a:srgbClr val="F59E0B"/>
                </a:solidFill>
              </a:defRPr>
            </a:pPr>
            <a:r>
              <a:t>• billing_cycles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Monthly billing period boundaries (OPEN / FINALIZED)</a:t>
            </a:r>
          </a:p>
          <a:p>
            <a:pPr>
              <a:spcBef>
                <a:spcPts val="600"/>
              </a:spcBef>
              <a:defRPr sz="1100" b="1">
                <a:solidFill>
                  <a:srgbClr val="F59E0B"/>
                </a:solidFill>
              </a:defRPr>
            </a:pPr>
            <a:r>
              <a:t>• bills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Generated bill records with slab breakdown &amp; payment status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06256" y="164592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06256" y="1645920"/>
            <a:ext cx="2542032" cy="9144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89136" y="1828800"/>
            <a:ext cx="21762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AI &amp; LEAK INCIDENTS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9136" y="2286000"/>
            <a:ext cx="21762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F43F5E"/>
                </a:solidFill>
              </a:defRPr>
            </a:pPr>
            <a:r>
              <a:t>• leak_incidents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Detected leak records, severity, risk score, reasons</a:t>
            </a:r>
          </a:p>
          <a:p>
            <a:pPr>
              <a:spcBef>
                <a:spcPts val="600"/>
              </a:spcBef>
              <a:defRPr sz="1100" b="1">
                <a:solidFill>
                  <a:srgbClr val="F43F5E"/>
                </a:solidFill>
              </a:defRPr>
            </a:pPr>
            <a:r>
              <a:t>• leak_feedbacks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Resident ground-truth classifications &amp; comments</a:t>
            </a:r>
          </a:p>
          <a:p>
            <a:pPr>
              <a:spcBef>
                <a:spcPts val="600"/>
              </a:spcBef>
              <a:defRPr sz="1100" b="1">
                <a:solidFill>
                  <a:srgbClr val="F43F5E"/>
                </a:solidFill>
              </a:defRPr>
            </a:pPr>
            <a:r>
              <a:t>• away_periods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Resident scheduled travel dates for leak suppression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17 · QUALITY ASSURANCE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Comprehensive Multi-Tier Test 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Rigorous automated testing spanning Java services, Python ML models, and security rules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47288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" y="1920240"/>
            <a:ext cx="9144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28986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293B"/>
                </a:solidFill>
              </a:defRPr>
            </a:pPr>
            <a:r>
              <a:t>BACKEND JUNIT &amp; INTEGRATION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60320"/>
            <a:ext cx="2898648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13+ automated JUnit 5 &amp; Mockito test cases executing on every compile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TariffCalculationService: Verifies weighted tanker average &amp; 3-tier slab math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LeakDetectionFallbackTest: Validates in-JVM failover when ML service is offline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HouseholdManagementTest: Tests sanity limits (1-15 persons) and away-period logic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Spring Security Test: Ensures unauthenticated or wrong-role requests return 401/403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1645920"/>
            <a:ext cx="3447288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36008" y="1920240"/>
            <a:ext cx="9144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2057400"/>
            <a:ext cx="28986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293B"/>
                </a:solidFill>
              </a:defRPr>
            </a:pPr>
            <a:r>
              <a:t>PYTHON ML SERVICE PYTEST SUITE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2560320"/>
            <a:ext cx="2898648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test_api.py: Validates /v1/leak/score endpoint with API key verification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test_features.py: Tests rolling 14-day transforms and demographic normalization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test_predictor.py: Ensures quantile regressors return valid monotonic bounds (q10 &lt;= q50 &lt;= q95)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test_edge_cases.py: Validates handling of zero-usage, sudden spikes, and active away periods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Synthetic data generator pipeline tested across 10,000 simulated apartment days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645920"/>
            <a:ext cx="3447288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66176" y="1920240"/>
            <a:ext cx="9144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6176" y="2057400"/>
            <a:ext cx="28986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293B"/>
                </a:solidFill>
              </a:defRPr>
            </a:pPr>
            <a:r>
              <a:t>API &amp; CODE QUALITY STANDARDS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6" y="2560320"/>
            <a:ext cx="2898648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Springdoc OpenAPI: Automatic Swagger 3.0 documentation &amp; schema verification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Postman API Collection: Full coverage of all 26+ RESTful endpoints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ESLint &amp; React 19 Best Practices: Clean frontend components with zero console errors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 Database Migrations: Hibernate DDL validation preventing schema drift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18 · ENGINEERING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Architectural Obstacles &amp; Implemented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Key technical trade-offs resolved during enterprise system development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5780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5257800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892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</a:defRPr>
            </a:pPr>
            <a:r>
              <a:t>UNAPPROVED PROPERTY EXPOSURE</a:t>
            </a:r>
          </a:p>
          <a:p>
            <a:pPr>
              <a:spcBef>
                <a:spcPts val="400"/>
              </a:spcBef>
              <a:defRPr sz="1000">
                <a:solidFill>
                  <a:srgbClr val="F43F5E"/>
                </a:solidFill>
              </a:defRPr>
            </a:pPr>
            <a:r>
              <a:t>Challenge: Unvetted building owners could register, create fake apartments, and appear in resident onboarding dropdowns.</a:t>
            </a:r>
          </a:p>
          <a:p>
            <a:pPr>
              <a:spcBef>
                <a:spcPts val="400"/>
              </a:spcBef>
              <a:defRPr sz="1000">
                <a:solidFill>
                  <a:srgbClr val="10B981"/>
                </a:solidFill>
              </a:defRPr>
            </a:pPr>
            <a:r>
              <a:t>Solution: Enforced Super Admin approval gatekeeper across all public endpoints (owners, buildings, available flats).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2375" y="1645920"/>
            <a:ext cx="525780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02375" y="1645920"/>
            <a:ext cx="52578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5255" y="1783080"/>
            <a:ext cx="4892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</a:defRPr>
            </a:pPr>
            <a:r>
              <a:t>MICROSERVICE DEPENDENCY RISK</a:t>
            </a:r>
          </a:p>
          <a:p>
            <a:pPr>
              <a:spcBef>
                <a:spcPts val="400"/>
              </a:spcBef>
              <a:defRPr sz="1000">
                <a:solidFill>
                  <a:srgbClr val="F43F5E"/>
                </a:solidFill>
              </a:defRPr>
            </a:pPr>
            <a:r>
              <a:t>Challenge: If the Python ML microservice crashes or experiences latency spikes, scheduled leak detection would fail.</a:t>
            </a:r>
          </a:p>
          <a:p>
            <a:pPr>
              <a:spcBef>
                <a:spcPts val="400"/>
              </a:spcBef>
              <a:defRPr sz="1000">
                <a:solidFill>
                  <a:srgbClr val="10B981"/>
                </a:solidFill>
              </a:defRPr>
            </a:pPr>
            <a:r>
              <a:t>Solution: Built an in-JVM statistical fallback (mean + 2*SD) with a 5000ms RestClient timeout, ensuring zero downtime.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25780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931920"/>
            <a:ext cx="5257800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69080"/>
            <a:ext cx="4892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</a:defRPr>
            </a:pPr>
            <a:r>
              <a:t>VOLATILE WATER TANKER PRICING</a:t>
            </a:r>
          </a:p>
          <a:p>
            <a:pPr>
              <a:spcBef>
                <a:spcPts val="400"/>
              </a:spcBef>
              <a:defRPr sz="1000">
                <a:solidFill>
                  <a:srgbClr val="F43F5E"/>
                </a:solidFill>
              </a:defRPr>
            </a:pPr>
            <a:r>
              <a:t>Challenge: Fixed static water rates caused massive financial losses for building owners during summer tanker shortages.</a:t>
            </a:r>
          </a:p>
          <a:p>
            <a:pPr>
              <a:spcBef>
                <a:spcPts val="400"/>
              </a:spcBef>
              <a:defRPr sz="1000">
                <a:solidFill>
                  <a:srgbClr val="10B981"/>
                </a:solidFill>
              </a:defRPr>
            </a:pPr>
            <a:r>
              <a:t>Solution: Architected dynamic procurement engine computing weighted average purchase costs + owner markup %.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2375" y="3931920"/>
            <a:ext cx="525780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02375" y="3931920"/>
            <a:ext cx="52578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5255" y="4069080"/>
            <a:ext cx="4892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</a:defRPr>
            </a:pPr>
            <a:r>
              <a:t>FALSE-POSITIVE ALARM FATIGUE</a:t>
            </a:r>
          </a:p>
          <a:p>
            <a:pPr>
              <a:spcBef>
                <a:spcPts val="400"/>
              </a:spcBef>
              <a:defRPr sz="1000">
                <a:solidFill>
                  <a:srgbClr val="F43F5E"/>
                </a:solidFill>
              </a:defRPr>
            </a:pPr>
            <a:r>
              <a:t>Challenge: Static thresholds triggered false leak alerts during weekend parties or heavy terrace gardening.</a:t>
            </a:r>
          </a:p>
          <a:p>
            <a:pPr>
              <a:spcBef>
                <a:spcPts val="400"/>
              </a:spcBef>
              <a:defRPr sz="1000">
                <a:solidFill>
                  <a:srgbClr val="10B981"/>
                </a:solidFill>
              </a:defRPr>
            </a:pPr>
            <a:r>
              <a:t>Solution: Combined demographic household scaling, vacation away-period scheduling, and active feedback retraining.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19 · PROJECT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Measurable Engineering &amp; Business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Delivering a production-ready smart water management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542032" cy="1645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22677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E9"/>
                </a:solidFill>
              </a:defRPr>
            </a:pPr>
            <a:r>
              <a:t>3 LIVE PORTALS</a:t>
            </a:r>
          </a:p>
          <a:p>
            <a:pPr>
              <a:spcBef>
                <a:spcPts val="600"/>
              </a:spcBef>
              <a:defRPr sz="1050">
                <a:solidFill>
                  <a:srgbClr val="64748B"/>
                </a:solidFill>
              </a:defRPr>
            </a:pPr>
            <a:r>
              <a:t>Super Admin, Owner, and Resident dashboards fully operational in React 19.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645920"/>
            <a:ext cx="2542032" cy="1645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1737360"/>
            <a:ext cx="22677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100% AUTOMATED BILLING</a:t>
            </a:r>
          </a:p>
          <a:p>
            <a:pPr>
              <a:spcBef>
                <a:spcPts val="600"/>
              </a:spcBef>
              <a:defRPr sz="1050">
                <a:solidFill>
                  <a:srgbClr val="64748B"/>
                </a:solidFill>
              </a:defRPr>
            </a:pPr>
            <a:r>
              <a:t>From meter telemetry delta ingestion to tiered invoice generation and PDF rendering.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645920"/>
            <a:ext cx="2542032" cy="1645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8504" y="1737360"/>
            <a:ext cx="22677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SUB-50MS ML INFERENCE</a:t>
            </a:r>
          </a:p>
          <a:p>
            <a:pPr>
              <a:spcBef>
                <a:spcPts val="600"/>
              </a:spcBef>
              <a:defRPr sz="1050">
                <a:solidFill>
                  <a:srgbClr val="64748B"/>
                </a:solidFill>
              </a:defRPr>
            </a:pPr>
            <a:r>
              <a:t>High-throughput asynchronous leak scoring with zero single-point-of-failure.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1645920"/>
            <a:ext cx="2542032" cy="1645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43416" y="1737360"/>
            <a:ext cx="22677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43F5E"/>
                </a:solidFill>
              </a:defRPr>
            </a:pPr>
            <a:r>
              <a:t>100% AUDIT COMPLIANCE</a:t>
            </a:r>
          </a:p>
          <a:p>
            <a:pPr>
              <a:spcBef>
                <a:spcPts val="600"/>
              </a:spcBef>
              <a:defRPr sz="1050">
                <a:solidFill>
                  <a:srgbClr val="64748B"/>
                </a:solidFill>
              </a:defRPr>
            </a:pPr>
            <a:r>
              <a:t>Every bill, occupancy lease, tariff change, and feedback is timestamped.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566160"/>
            <a:ext cx="10728655" cy="2560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749039"/>
            <a:ext cx="10149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293B"/>
                </a:solidFill>
              </a:defRPr>
            </a:pPr>
            <a:r>
              <a:t>VERIFIED END-TO-END SYSTEM LIFECYCLE</a:t>
            </a:r>
          </a:p>
          <a:p>
            <a:pPr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•  Step 1: Super Admin Approvals: Owner Sarah Jenkins registered (Pending) -&gt; Super Admin reviews -&gt; Approves owner into active state.</a:t>
            </a:r>
          </a:p>
          <a:p>
            <a:pPr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•  Step 2: Property Setup: Owner creates Skyline Luxury Towers -&gt; Configures 24 flats -&gt; Binds digital water meters to each unit.</a:t>
            </a:r>
          </a:p>
          <a:p>
            <a:pPr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•  Step 3: Resident Onboarding: Resident requests occupancy in Flat 204 -&gt; Owner accepts -&gt; Meter readings begin logging telemetry.</a:t>
            </a:r>
          </a:p>
          <a:p>
            <a:pPr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•  Step 4: Dynamic Procurement Billing: Owner logs municipal bulk purchase -&gt; Markup set to 20% -&gt; 1-Click bulk billing generates 3-tier bills &amp; PDFs.</a:t>
            </a:r>
          </a:p>
          <a:p>
            <a:pPr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•  Step 5: ML Leak Detection &amp; Feedback: FastAPI predicts q10/q50/q95 bounds -&gt; Night spike flags HIGH leak -&gt; Resident submits Confirmed Leak feedback.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2286000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>
              <a:spcBef>
                <a:spcPts val="800"/>
              </a:spcBef>
              <a:defRPr sz="2200">
                <a:solidFill>
                  <a:srgbClr val="0EA5E9"/>
                </a:solidFill>
              </a:defRPr>
            </a:pPr>
            <a:r>
              <a:t>Questions &amp; Live Demonstration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40480"/>
            <a:ext cx="10698480" cy="20116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02336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EA5E9"/>
                </a:solidFill>
              </a:defRPr>
            </a:pPr>
            <a:r>
              <a:t>LIVE PLATFORM ACCESS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• Frontend Web Application: http://localhost:5173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• Spring Boot Core REST API: http://localhost:8080/api (Swagger UI: /swagger-ui.html)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• Python FastAPI ML Service: http://localhost:8000/docs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